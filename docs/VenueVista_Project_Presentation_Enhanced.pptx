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914400"/>
            <a:ext cx="4023360" cy="4023360"/>
          </a:xfrm>
          <a:prstGeom prst="ellipse">
            <a:avLst/>
          </a:prstGeom>
          <a:solidFill>
            <a:srgbClr val="1B1535"/>
          </a:solidFill>
          <a:ln w="25400">
            <a:solidFill>
              <a:srgbClr val="3E2C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1280160"/>
            <a:ext cx="3291840" cy="32918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19456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4343400"/>
            <a:ext cx="1188720" cy="11887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66344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927080" y="640080"/>
            <a:ext cx="822960" cy="822960"/>
          </a:xfrm>
          <a:prstGeom prst="ellipse">
            <a:avLst/>
          </a:prstGeom>
          <a:solidFill>
            <a:srgbClr val="3E2C94"/>
          </a:solidFill>
          <a:ln w="12700">
            <a:solidFill>
              <a:srgbClr val="3E2C94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86868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1325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178308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VenueVista</a:t>
            </a:r>
            <a:endParaRPr lang="en-US" sz="72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3108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EventPro Ticketing &amp; Venue Management</a:t>
            </a:r>
            <a:endParaRPr lang="en-US" sz="2600" dirty="0"/>
          </a:p>
        </p:txBody>
      </p:sp>
      <p:sp>
        <p:nvSpPr>
          <p:cNvPr id="12" name="Shape 7"/>
          <p:cNvSpPr/>
          <p:nvPr/>
        </p:nvSpPr>
        <p:spPr>
          <a:xfrm>
            <a:off x="548640" y="411480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B1535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48640" y="41148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651760" y="411480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1B1535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651760" y="41148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023360" y="411480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B1535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023360" y="4114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66344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B1535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46634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2011680" y="466344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B1535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011680" y="46634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Media &amp; Entertainment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VenueVista 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822960" cy="8229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460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03120" y="224028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VenueVista?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33756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 application for managing events, venues, seating arrangements, ticket categories, bookings, ticket sales and analytics.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MANAGES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48006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4800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148840" y="48006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48840" y="4800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91840" y="48006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91840" y="4800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48006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categories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48006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92240" y="4800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18120" y="48006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18120" y="4800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sales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326880" y="48006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CE8FA"/>
          </a:solidFill>
          <a:ln w="12700">
            <a:solidFill>
              <a:srgbClr val="E0DB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0" y="4800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2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Key Features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74320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view and manage events.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37304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7344" y="19659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364" y="21259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7344" y="274320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Seating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57344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venues, seating layouts and seat availability.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25968" y="164592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6008" y="19659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028" y="2125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6008" y="274320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46008" y="315468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ticket categories, prices and availability.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5034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12064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5321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seats and book tickets.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37304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7344" y="434340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364" y="45034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7344" y="512064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4657344" y="55321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bookings, tickets sold and revenue.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25968" y="4023360"/>
            <a:ext cx="3514344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6008" y="43434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028" y="450342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46008" y="512064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8446008" y="553212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events using user preferences and booking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full-stack architecture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926080" cy="4078224"/>
          </a:xfrm>
          <a:prstGeom prst="roundRect">
            <a:avLst>
              <a:gd name="adj" fmla="val 3750"/>
            </a:avLst>
          </a:prstGeom>
          <a:solidFill>
            <a:srgbClr val="ECE8FA"/>
          </a:solidFill>
          <a:ln w="9525">
            <a:solidFill>
              <a:srgbClr val="E0DB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94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714232" y="1783080"/>
            <a:ext cx="2926080" cy="4078224"/>
          </a:xfrm>
          <a:prstGeom prst="roundRect">
            <a:avLst>
              <a:gd name="adj" fmla="val 3750"/>
            </a:avLst>
          </a:prstGeom>
          <a:solidFill>
            <a:srgbClr val="ECE8FA"/>
          </a:solidFill>
          <a:ln w="9525">
            <a:solidFill>
              <a:srgbClr val="E0DB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079992" y="219456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72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079992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9079992" y="3794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995928" y="1783080"/>
            <a:ext cx="4197096" cy="512064"/>
          </a:xfrm>
          <a:prstGeom prst="roundRect">
            <a:avLst>
              <a:gd name="adj" fmla="val 17857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995928" y="1783080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993892" y="2322576"/>
            <a:ext cx="201168" cy="146304"/>
          </a:xfrm>
          <a:prstGeom prst="downArrow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995928" y="2496312"/>
            <a:ext cx="4197096" cy="512064"/>
          </a:xfrm>
          <a:prstGeom prst="roundRect">
            <a:avLst>
              <a:gd name="adj" fmla="val 1785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3995928" y="2496312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993892" y="3035808"/>
            <a:ext cx="201168" cy="146304"/>
          </a:xfrm>
          <a:prstGeom prst="downArrow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995928" y="3209544"/>
            <a:ext cx="4197096" cy="512064"/>
          </a:xfrm>
          <a:prstGeom prst="roundRect">
            <a:avLst>
              <a:gd name="adj" fmla="val 17857"/>
            </a:avLst>
          </a:prstGeom>
          <a:solidFill>
            <a:srgbClr val="4B35B0"/>
          </a:solidFill>
          <a:ln w="12700">
            <a:solidFill>
              <a:srgbClr val="4B35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3995928" y="3209544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Controller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993892" y="3749040"/>
            <a:ext cx="201168" cy="146304"/>
          </a:xfrm>
          <a:prstGeom prst="downArrow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995928" y="3922776"/>
            <a:ext cx="4197096" cy="512064"/>
          </a:xfrm>
          <a:prstGeom prst="roundRect">
            <a:avLst>
              <a:gd name="adj" fmla="val 17857"/>
            </a:avLst>
          </a:prstGeom>
          <a:solidFill>
            <a:srgbClr val="3E2C94"/>
          </a:solidFill>
          <a:ln w="12700">
            <a:solidFill>
              <a:srgbClr val="3E2C9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3995928" y="3922776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993892" y="4462272"/>
            <a:ext cx="201168" cy="146304"/>
          </a:xfrm>
          <a:prstGeom prst="downArrow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995928" y="4636008"/>
            <a:ext cx="4197096" cy="512064"/>
          </a:xfrm>
          <a:prstGeom prst="roundRect">
            <a:avLst>
              <a:gd name="adj" fmla="val 17857"/>
            </a:avLst>
          </a:prstGeom>
          <a:solidFill>
            <a:srgbClr val="32247A"/>
          </a:solidFill>
          <a:ln w="12700">
            <a:solidFill>
              <a:srgbClr val="32247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3995928" y="4636008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+ JPA/Hibernate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5993892" y="5175504"/>
            <a:ext cx="201168" cy="146304"/>
          </a:xfrm>
          <a:prstGeom prst="downArrow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995928" y="5349240"/>
            <a:ext cx="4197096" cy="512064"/>
          </a:xfrm>
          <a:prstGeom prst="roundRect">
            <a:avLst>
              <a:gd name="adj" fmla="val 17857"/>
            </a:avLst>
          </a:prstGeom>
          <a:solidFill>
            <a:srgbClr val="1B1535"/>
          </a:solidFill>
          <a:ln w="12700">
            <a:solidFill>
              <a:srgbClr val="1B15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3995928" y="5349240"/>
            <a:ext cx="4197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System Modules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310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3736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accounts and profiles.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7304" y="160020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1624" y="194310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21031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4584" y="173736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updates and lists events.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25968" y="160020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00288" y="194310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308" y="21031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223248" y="173736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Management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venue details and layouts.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315468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49758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6576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329184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 Management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seat layouts and availability.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37304" y="315468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11624" y="349758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644" y="365760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34584" y="329184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Management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ticket categories and prices.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125968" y="315468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400288" y="349758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308" y="36576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223248" y="329184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Management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seat selection and bookings.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548640" y="470916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22960" y="50520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5212080"/>
            <a:ext cx="320040" cy="32004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645920" y="484632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Sales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tickets sold for each event.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4337304" y="470916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611624" y="5052060"/>
            <a:ext cx="640080" cy="64008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1644" y="5212080"/>
            <a:ext cx="320040" cy="32004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434584" y="484632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bookings, sales and revenue.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8125968" y="4709160"/>
            <a:ext cx="3514344" cy="1325880"/>
          </a:xfrm>
          <a:prstGeom prst="roundRect">
            <a:avLst>
              <a:gd name="adj" fmla="val 8276"/>
            </a:avLst>
          </a:prstGeom>
          <a:solidFill>
            <a:srgbClr val="1B1535"/>
          </a:solidFill>
          <a:ln w="9525">
            <a:solidFill>
              <a:srgbClr val="1B1535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400288" y="505206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0308" y="5212080"/>
            <a:ext cx="320040" cy="32004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223248" y="4846320"/>
            <a:ext cx="2234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D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events by preferences and history.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1468" cy="3063240"/>
          </a:xfrm>
          <a:prstGeom prst="roundRect">
            <a:avLst>
              <a:gd name="adj" fmla="val 42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14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TypeScript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78708" y="1600200"/>
            <a:ext cx="2601468" cy="3063240"/>
          </a:xfrm>
          <a:prstGeom prst="roundRect">
            <a:avLst>
              <a:gd name="adj" fmla="val 42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3028" y="187452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2057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3028" y="2788920"/>
            <a:ext cx="214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653028" y="329184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 + Spring Data JPA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08776" y="1600200"/>
            <a:ext cx="2601468" cy="3063240"/>
          </a:xfrm>
          <a:prstGeom prst="roundRect">
            <a:avLst>
              <a:gd name="adj" fmla="val 42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3096" y="187452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57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83096" y="2788920"/>
            <a:ext cx="214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83096" y="329184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038844" y="1600200"/>
            <a:ext cx="2601468" cy="3063240"/>
          </a:xfrm>
          <a:prstGeom prst="roundRect">
            <a:avLst>
              <a:gd name="adj" fmla="val 42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13164" y="1874520"/>
            <a:ext cx="731520" cy="73152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044" y="2057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13164" y="2788920"/>
            <a:ext cx="214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 / Connectivity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313164" y="3291840"/>
            <a:ext cx="20528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/ JPA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Driver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B1535"/>
          </a:solidFill>
          <a:ln w="12700">
            <a:solidFill>
              <a:srgbClr val="1B153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514350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3035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37360" y="49377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3291840" y="52349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3E2C94"/>
          </a:solidFill>
          <a:ln w="12700">
            <a:solidFill>
              <a:srgbClr val="3E2C94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3291840" y="52349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5303520" y="52349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3E2C94"/>
          </a:solidFill>
          <a:ln w="12700">
            <a:solidFill>
              <a:srgbClr val="3E2C94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303520" y="52349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7315200" y="52349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3E2C94"/>
          </a:solidFill>
          <a:ln w="12700">
            <a:solidFill>
              <a:srgbClr val="3E2C94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315200" y="52349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9326880" y="523494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3E2C94"/>
          </a:solidFill>
          <a:ln w="12700">
            <a:solidFill>
              <a:srgbClr val="3E2C94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326880" y="52349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Personalized Event Recommendation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intelligent feature works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CONSIDERED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6962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08860"/>
            <a:ext cx="457200" cy="457200"/>
          </a:xfrm>
          <a:prstGeom prst="ellipse">
            <a:avLst/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231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52728" y="2148840"/>
            <a:ext cx="9006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27732" y="2148840"/>
            <a:ext cx="16962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4892" y="2308860"/>
            <a:ext cx="457200" cy="457200"/>
          </a:xfrm>
          <a:prstGeom prst="ellipse">
            <a:avLst/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24231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31820" y="2148840"/>
            <a:ext cx="9006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bookings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06824" y="2148840"/>
            <a:ext cx="16962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43984" y="2308860"/>
            <a:ext cx="457200" cy="457200"/>
          </a:xfrm>
          <a:prstGeom prst="ellipse">
            <a:avLst/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24231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10912" y="2148840"/>
            <a:ext cx="9006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category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85916" y="2148840"/>
            <a:ext cx="16962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23076" y="2308860"/>
            <a:ext cx="457200" cy="457200"/>
          </a:xfrm>
          <a:prstGeom prst="ellipse">
            <a:avLst/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24231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90004" y="2148840"/>
            <a:ext cx="9006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065008" y="2148840"/>
            <a:ext cx="16962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02168" y="2308860"/>
            <a:ext cx="457200" cy="457200"/>
          </a:xfrm>
          <a:prstGeom prst="ellipse">
            <a:avLst/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468" y="242316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769096" y="2148840"/>
            <a:ext cx="9006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9944100" y="2148840"/>
            <a:ext cx="169621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081260" y="2308860"/>
            <a:ext cx="457200" cy="457200"/>
          </a:xfrm>
          <a:prstGeom prst="ellipse">
            <a:avLst/>
          </a:prstGeom>
          <a:solidFill>
            <a:srgbClr val="ECE8FA"/>
          </a:solidFill>
          <a:ln w="12700">
            <a:solidFill>
              <a:srgbClr val="ECE8F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242316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648188" y="2148840"/>
            <a:ext cx="9006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PIPELINE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48640" y="3657600"/>
            <a:ext cx="196230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77240" y="3840480"/>
            <a:ext cx="384048" cy="384048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777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777240" y="4279392"/>
            <a:ext cx="16879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2574950" y="4059936"/>
            <a:ext cx="201168" cy="292608"/>
          </a:xfrm>
          <a:prstGeom prst="chevron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830982" y="3657600"/>
            <a:ext cx="196230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059582" y="3840480"/>
            <a:ext cx="384048" cy="384048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5958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1"/>
          <p:cNvSpPr txBox="1"/>
          <p:nvPr/>
        </p:nvSpPr>
        <p:spPr>
          <a:xfrm>
            <a:off x="3059582" y="4279392"/>
            <a:ext cx="16879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Data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4857293" y="4059936"/>
            <a:ext cx="201168" cy="292608"/>
          </a:xfrm>
          <a:prstGeom prst="chevron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113325" y="3657600"/>
            <a:ext cx="196230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341925" y="3840480"/>
            <a:ext cx="384048" cy="384048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5341925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5341925" y="4279392"/>
            <a:ext cx="16879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7139635" y="4059936"/>
            <a:ext cx="201168" cy="292608"/>
          </a:xfrm>
          <a:prstGeom prst="chevron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395667" y="3657600"/>
            <a:ext cx="196230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7624267" y="3840480"/>
            <a:ext cx="384048" cy="384048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7624267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7624267" y="4279392"/>
            <a:ext cx="16879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Events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9421978" y="4059936"/>
            <a:ext cx="201168" cy="292608"/>
          </a:xfrm>
          <a:prstGeom prst="chevron">
            <a:avLst/>
          </a:prstGeom>
          <a:solidFill>
            <a:srgbClr val="B9B2DA"/>
          </a:solidFill>
          <a:ln w="12700">
            <a:solidFill>
              <a:srgbClr val="B9B2D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9678010" y="3657600"/>
            <a:ext cx="1962302" cy="1097280"/>
          </a:xfrm>
          <a:prstGeom prst="roundRect">
            <a:avLst>
              <a:gd name="adj" fmla="val 10000"/>
            </a:avLst>
          </a:prstGeom>
          <a:solidFill>
            <a:srgbClr val="5B3FD0"/>
          </a:solidFill>
          <a:ln w="9525">
            <a:solidFill>
              <a:srgbClr val="5B3FD0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9906610" y="384048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990661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4" name="Text 46"/>
          <p:cNvSpPr txBox="1"/>
          <p:nvPr/>
        </p:nvSpPr>
        <p:spPr>
          <a:xfrm>
            <a:off x="9906610" y="4279392"/>
            <a:ext cx="16879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55" name="Shape 47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CE8FA"/>
          </a:solidFill>
          <a:ln w="9525">
            <a:solidFill>
              <a:srgbClr val="E0DBF2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822960" y="525780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5406390"/>
            <a:ext cx="297180" cy="297180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645920" y="5074920"/>
            <a:ext cx="9720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compares user interests with available events and returns relevant upcoming events through the Angular frontend.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User Workflow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40902" y="2468880"/>
            <a:ext cx="9507147" cy="0"/>
          </a:xfrm>
          <a:prstGeom prst="line">
            <a:avLst/>
          </a:prstGeom>
          <a:noFill/>
          <a:ln w="31750">
            <a:solidFill>
              <a:srgbClr val="C9C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142" y="2103120"/>
            <a:ext cx="731520" cy="731520"/>
          </a:xfrm>
          <a:prstGeom prst="ellipse">
            <a:avLst/>
          </a:prstGeom>
          <a:solidFill>
            <a:srgbClr val="5B3FD0"/>
          </a:solidFill>
          <a:ln w="50800">
            <a:solidFill>
              <a:srgbClr val="F6F5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5142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VenueVista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59667" y="2103120"/>
            <a:ext cx="731520" cy="731520"/>
          </a:xfrm>
          <a:prstGeom prst="ellipse">
            <a:avLst/>
          </a:prstGeom>
          <a:solidFill>
            <a:srgbClr val="5B3FD0"/>
          </a:solidFill>
          <a:ln w="50800">
            <a:solidFill>
              <a:srgbClr val="F6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9667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206317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44191" y="2103120"/>
            <a:ext cx="731520" cy="731520"/>
          </a:xfrm>
          <a:prstGeom prst="ellipse">
            <a:avLst/>
          </a:prstGeom>
          <a:solidFill>
            <a:srgbClr val="5B3FD0"/>
          </a:solidFill>
          <a:ln w="50800">
            <a:solidFill>
              <a:srgbClr val="F6F5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44191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790841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28716" y="2103120"/>
            <a:ext cx="731520" cy="731520"/>
          </a:xfrm>
          <a:prstGeom prst="ellipse">
            <a:avLst/>
          </a:prstGeom>
          <a:solidFill>
            <a:srgbClr val="5B3FD0"/>
          </a:solidFill>
          <a:ln w="50800">
            <a:solidFill>
              <a:srgbClr val="F6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28716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375366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seats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3241" y="2103120"/>
            <a:ext cx="731520" cy="731520"/>
          </a:xfrm>
          <a:prstGeom prst="ellipse">
            <a:avLst/>
          </a:prstGeom>
          <a:solidFill>
            <a:srgbClr val="5B3FD0"/>
          </a:solidFill>
          <a:ln w="50800">
            <a:solidFill>
              <a:srgbClr val="F6F5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3241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59890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ticket &amp; seats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97765" y="2103120"/>
            <a:ext cx="731520" cy="731520"/>
          </a:xfrm>
          <a:prstGeom prst="ellipse">
            <a:avLst/>
          </a:prstGeom>
          <a:solidFill>
            <a:srgbClr val="5B3FD0"/>
          </a:solidFill>
          <a:ln w="50800">
            <a:solidFill>
              <a:srgbClr val="F6F5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97765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544415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482290" y="2103120"/>
            <a:ext cx="731520" cy="731520"/>
          </a:xfrm>
          <a:prstGeom prst="ellipse">
            <a:avLst/>
          </a:prstGeom>
          <a:solidFill>
            <a:srgbClr val="F5A623"/>
          </a:solidFill>
          <a:ln w="50800">
            <a:solidFill>
              <a:srgbClr val="F6F5FB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2602" y="2313432"/>
            <a:ext cx="310896" cy="31089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128939" y="3017520"/>
            <a:ext cx="14382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416052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1B1535"/>
          </a:solidFill>
          <a:ln w="12700">
            <a:solidFill>
              <a:srgbClr val="1B153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5840" y="461772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84632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224028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Side</a:t>
            </a:r>
            <a:endParaRPr lang="en-US" sz="2600" dirty="0"/>
          </a:p>
        </p:txBody>
      </p:sp>
      <p:sp>
        <p:nvSpPr>
          <p:cNvPr id="31" name="Text 27"/>
          <p:cNvSpPr txBox="1"/>
          <p:nvPr/>
        </p:nvSpPr>
        <p:spPr>
          <a:xfrm>
            <a:off x="2240280" y="5056632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events, venues, seats and ticket categories, and view sales and revenue analytics.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APIs &amp; Expected Outcome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0992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099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002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0020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33172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317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2219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2199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43784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953512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9535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8437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/events/{id}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843784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465576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575304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75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4655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/events/{id}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6557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event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197096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1970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737360" y="40873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/bookings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08736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" y="48188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48188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737360" y="470916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/analytics/sales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47091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30952"/>
            <a:ext cx="68580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0DBF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544068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54406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737360" y="53309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5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/recommendations/{userId}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53309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1600200"/>
            <a:ext cx="3867912" cy="4261104"/>
          </a:xfrm>
          <a:prstGeom prst="roundRect">
            <a:avLst>
              <a:gd name="adj" fmla="val 2837"/>
            </a:avLst>
          </a:prstGeom>
          <a:solidFill>
            <a:srgbClr val="1B1535"/>
          </a:solidFill>
          <a:ln w="12700">
            <a:solidFill>
              <a:srgbClr val="1B15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196596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0" y="2125980"/>
            <a:ext cx="320040" cy="32004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8138160" y="27432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2400" dirty="0"/>
          </a:p>
        </p:txBody>
      </p:sp>
      <p:sp>
        <p:nvSpPr>
          <p:cNvPr id="43" name="Text 40"/>
          <p:cNvSpPr txBox="1"/>
          <p:nvPr/>
        </p:nvSpPr>
        <p:spPr>
          <a:xfrm>
            <a:off x="8138160" y="3337560"/>
            <a:ext cx="313639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where users can discover events, select seats and book tickets, while administrators manage events and venues and monitor ticket sales and revenue.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communicates with Spring Boot through REST APIs.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38251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rgbClr val="1B1535"/>
          </a:solidFill>
          <a:ln w="25400">
            <a:solidFill>
              <a:srgbClr val="3E2C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737360"/>
            <a:ext cx="2377440" cy="23774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46888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411480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43434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103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VenueVista  |  EventPro Ticketing &amp; Venue Management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VenueVista – EventPro Ticketing &amp; Venue Management</dc:title>
  <dc:subject>PptxGenJS Presentation</dc:subject>
  <dc:creator>PptxGenJS</dc:creator>
  <cp:lastModifiedBy>PptxGenJS</cp:lastModifiedBy>
  <cp:revision>1</cp:revision>
  <dcterms:created xsi:type="dcterms:W3CDTF">2026-10-01T05:11:52Z</dcterms:created>
  <dcterms:modified xsi:type="dcterms:W3CDTF">2026-10-01T05:11:52Z</dcterms:modified>
</cp:coreProperties>
</file>